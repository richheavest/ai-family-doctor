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3.svg" ContentType="image/svg+xml"/>
  <Override PartName="/ppt/media/image65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4" r:id="rId21"/>
    <p:sldId id="275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8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8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大家好，欢迎参加本次关于“AI家庭医生问诊Web系统”的可行性研究报告汇报。本次汇报旨在向各位展示我们对该项目的全面分析与评估。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七个部分，首先是引言，介绍项目背景和目标；接着分析现行系统的状况；然后提出我们建议的新系统方案；之后进行可行性研究和详细的可行性分析；再对项目可能面临的风险进行评估并提出应对措施；最后得出结论并给出建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接下来，我们明确一下系统的定义和核心功能。我们要开发的是一个Web系统，它的核心是AI问诊服务，同时还整合了健康档案管理和分诊指导等实用功能，旨在为用户提供一站式的健康咨询体验。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为了实现上述功能，我们选择了成熟且符合课程教学的技术栈。前端采用Vue3框架，后端使用Java SpringBoot，数据库选用MySQL。AI能力则通过调用主流的大模型API来实现。整个系统将部署在低成本的云服务器学生机上。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在分析现行系统时，我们发现在线医疗市场虽然增长迅速，但现有产品存在明显的痛点。用户需要一个更简洁、免费的工具来满足日常健康咨询需求，而当前的技术环境也为我们开发这样的系统提供了可能。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深入分析用户需求，我们发现了几个普遍的痛点：比如小病不愿去医院、就医不知挂何科、健康信息管理混乱等。我们的目标用户主要是高校师生和有类似需求的普通居民，我们的系统正是为了解决这些痛点而设计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针对现有系统的不足，我们提出的新系统主要有三点改进：一是定位更精准，做轻量化的免费工具；二是功能更聚焦，只保留核心需求；三是将合规性放在首位，确保系统安全、可靠。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新系统设计了三种角色：普通用户、家人用户和管理员。系统功能主要分为七大模块，涵盖了从用户管理、核心问诊服务到后台运营的各个方面，形成了一个完整的闭环。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我们也清醒地认识到新系统的局限性。AI不能替代医生，系统也无法获取实时生理数据，因此它只能作为辅助工具，不能用于紧急医疗情况。这一点在系统设计和用户提示中必须明确。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接下来进入可行性研究部分。我们的研究主要围绕技术、经济、操作和社会这四个核心要点展开，目标是全面评估项目是否可行，并为后续的开发工作指明方向。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技术角度看，我们选择的都是非常成熟的技术，并且都是我们课程中学习过的内容，团队有能力掌握。系统架构设计合理，开发难度适中，对于AI集成和合规性这些难点，我们也有明确的解决方案。因此，技术上是完全可行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在经济方面，作为一个课程作业，我们的开发成本非常低，主要是一些云服务器的费用，完全在可承受范围内。虽然项目本身不追求商业利益，但其学习价值和潜在的项目价值是显著的。因此，经济上是可行的。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社会层面，项目符合国家政策导向，满足了社会对便捷健康服务的需求。同时，我们非常重视合规性，确保系统的设计和运营符合法律法规，保护用户权益。因此，项目具备社会可行性。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任何项目都存在风险，我们识别出了三类主要风险：技术层面的接口稳定性和数据安全风险；合规层面的内容审核和隐私保护风险；以及运营层面的用户接受度和推广风险。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识别出的风险，我们制定了相应的应对措施。例如，通过选择多个API服务商来降低技术依赖风险；通过建立内容审核机制来确保合规；通过精准推广和持续优化来提升用户接受度。这些措施将帮助我们有效管理项目风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综合以上所有分析，我们得出结论：该项目在技术、经济、操作和社会四个方面都具备可行性。它不仅符合课程作业的要求，还具有一定的实用价值。因此，我们认为这个项目是完全可以实施的。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项目完成后，我们建议根据实际使用情况进行持续优化，并可以尝试拓展更多的应用场景，比如与校医院合作。此外，该项目也具备作为开源项目或创新创业项目的潜力，可以进行进一步的延伸和发展。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我的汇报到此结束，感谢各位的聆听。现在是问答环节，欢迎大家提问。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16.svg"/><Relationship Id="rId14" Type="http://schemas.openxmlformats.org/officeDocument/2006/relationships/image" Target="../media/image15.png"/><Relationship Id="rId13" Type="http://schemas.openxmlformats.org/officeDocument/2006/relationships/image" Target="../media/image14.svg"/><Relationship Id="rId12" Type="http://schemas.openxmlformats.org/officeDocument/2006/relationships/image" Target="../media/image13.png"/><Relationship Id="rId11" Type="http://schemas.openxmlformats.org/officeDocument/2006/relationships/image" Target="../media/image12.sv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svg"/><Relationship Id="rId8" Type="http://schemas.openxmlformats.org/officeDocument/2006/relationships/image" Target="../media/image23.png"/><Relationship Id="rId7" Type="http://schemas.openxmlformats.org/officeDocument/2006/relationships/image" Target="../media/image22.svg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svg"/><Relationship Id="rId8" Type="http://schemas.openxmlformats.org/officeDocument/2006/relationships/image" Target="../media/image29.png"/><Relationship Id="rId7" Type="http://schemas.openxmlformats.org/officeDocument/2006/relationships/image" Target="../media/image28.svg"/><Relationship Id="rId6" Type="http://schemas.openxmlformats.org/officeDocument/2006/relationships/image" Target="../media/image27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32.svg"/><Relationship Id="rId10" Type="http://schemas.openxmlformats.org/officeDocument/2006/relationships/image" Target="../media/image31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tags" Target="../tags/tag2.xml"/><Relationship Id="rId21" Type="http://schemas.openxmlformats.org/officeDocument/2006/relationships/notesSlide" Target="../notesSlides/notesSlide5.xml"/><Relationship Id="rId20" Type="http://schemas.openxmlformats.org/officeDocument/2006/relationships/slideLayout" Target="../slideLayouts/slideLayout12.xml"/><Relationship Id="rId2" Type="http://schemas.openxmlformats.org/officeDocument/2006/relationships/tags" Target="../tags/tag1.xml"/><Relationship Id="rId19" Type="http://schemas.openxmlformats.org/officeDocument/2006/relationships/tags" Target="../tags/tag12.xml"/><Relationship Id="rId18" Type="http://schemas.openxmlformats.org/officeDocument/2006/relationships/tags" Target="../tags/tag11.xml"/><Relationship Id="rId17" Type="http://schemas.openxmlformats.org/officeDocument/2006/relationships/image" Target="../media/image36.svg"/><Relationship Id="rId16" Type="http://schemas.openxmlformats.org/officeDocument/2006/relationships/image" Target="../media/image35.png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image" Target="../media/image34.svg"/><Relationship Id="rId10" Type="http://schemas.openxmlformats.org/officeDocument/2006/relationships/image" Target="../media/image33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svg"/><Relationship Id="rId8" Type="http://schemas.openxmlformats.org/officeDocument/2006/relationships/image" Target="../media/image39.png"/><Relationship Id="rId7" Type="http://schemas.openxmlformats.org/officeDocument/2006/relationships/image" Target="../media/image38.svg"/><Relationship Id="rId6" Type="http://schemas.openxmlformats.org/officeDocument/2006/relationships/image" Target="../media/image37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44.svg"/><Relationship Id="rId12" Type="http://schemas.openxmlformats.org/officeDocument/2006/relationships/image" Target="../media/image43.png"/><Relationship Id="rId11" Type="http://schemas.openxmlformats.org/officeDocument/2006/relationships/image" Target="../media/image42.svg"/><Relationship Id="rId10" Type="http://schemas.openxmlformats.org/officeDocument/2006/relationships/image" Target="../media/image41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image" Target="../media/image46.svg"/><Relationship Id="rId4" Type="http://schemas.openxmlformats.org/officeDocument/2006/relationships/image" Target="../media/image45.png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image" Target="../media/image48.svg"/><Relationship Id="rId10" Type="http://schemas.openxmlformats.org/officeDocument/2006/relationships/image" Target="../media/image47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image" Target="../media/image50.svg"/><Relationship Id="rId46" Type="http://schemas.openxmlformats.org/officeDocument/2006/relationships/notesSlide" Target="../notesSlides/notesSlide8.xml"/><Relationship Id="rId45" Type="http://schemas.openxmlformats.org/officeDocument/2006/relationships/slideLayout" Target="../slideLayouts/slideLayout12.xml"/><Relationship Id="rId44" Type="http://schemas.openxmlformats.org/officeDocument/2006/relationships/tags" Target="../tags/tag47.xml"/><Relationship Id="rId43" Type="http://schemas.openxmlformats.org/officeDocument/2006/relationships/image" Target="../media/image56.svg"/><Relationship Id="rId42" Type="http://schemas.openxmlformats.org/officeDocument/2006/relationships/image" Target="../media/image55.png"/><Relationship Id="rId41" Type="http://schemas.openxmlformats.org/officeDocument/2006/relationships/tags" Target="../tags/tag46.xml"/><Relationship Id="rId40" Type="http://schemas.openxmlformats.org/officeDocument/2006/relationships/tags" Target="../tags/tag45.xml"/><Relationship Id="rId4" Type="http://schemas.openxmlformats.org/officeDocument/2006/relationships/image" Target="../media/image49.png"/><Relationship Id="rId39" Type="http://schemas.openxmlformats.org/officeDocument/2006/relationships/tags" Target="../tags/tag44.xml"/><Relationship Id="rId38" Type="http://schemas.openxmlformats.org/officeDocument/2006/relationships/image" Target="../media/image22.svg"/><Relationship Id="rId37" Type="http://schemas.openxmlformats.org/officeDocument/2006/relationships/image" Target="../media/image21.png"/><Relationship Id="rId36" Type="http://schemas.openxmlformats.org/officeDocument/2006/relationships/tags" Target="../tags/tag43.xml"/><Relationship Id="rId35" Type="http://schemas.openxmlformats.org/officeDocument/2006/relationships/tags" Target="../tags/tag42.xml"/><Relationship Id="rId34" Type="http://schemas.openxmlformats.org/officeDocument/2006/relationships/tags" Target="../tags/tag41.xml"/><Relationship Id="rId33" Type="http://schemas.openxmlformats.org/officeDocument/2006/relationships/tags" Target="../tags/tag40.xml"/><Relationship Id="rId32" Type="http://schemas.openxmlformats.org/officeDocument/2006/relationships/tags" Target="../tags/tag39.xml"/><Relationship Id="rId31" Type="http://schemas.openxmlformats.org/officeDocument/2006/relationships/tags" Target="../tags/tag38.xml"/><Relationship Id="rId30" Type="http://schemas.openxmlformats.org/officeDocument/2006/relationships/image" Target="../media/image24.svg"/><Relationship Id="rId3" Type="http://schemas.openxmlformats.org/officeDocument/2006/relationships/tags" Target="../tags/tag22.xml"/><Relationship Id="rId29" Type="http://schemas.openxmlformats.org/officeDocument/2006/relationships/image" Target="../media/image23.png"/><Relationship Id="rId28" Type="http://schemas.openxmlformats.org/officeDocument/2006/relationships/tags" Target="../tags/tag37.xml"/><Relationship Id="rId27" Type="http://schemas.openxmlformats.org/officeDocument/2006/relationships/tags" Target="../tags/tag36.xml"/><Relationship Id="rId26" Type="http://schemas.openxmlformats.org/officeDocument/2006/relationships/tags" Target="../tags/tag35.xml"/><Relationship Id="rId25" Type="http://schemas.openxmlformats.org/officeDocument/2006/relationships/image" Target="../media/image20.svg"/><Relationship Id="rId24" Type="http://schemas.openxmlformats.org/officeDocument/2006/relationships/image" Target="../media/image19.png"/><Relationship Id="rId23" Type="http://schemas.openxmlformats.org/officeDocument/2006/relationships/tags" Target="../tags/tag34.xml"/><Relationship Id="rId22" Type="http://schemas.openxmlformats.org/officeDocument/2006/relationships/tags" Target="../tags/tag33.xml"/><Relationship Id="rId21" Type="http://schemas.openxmlformats.org/officeDocument/2006/relationships/tags" Target="../tags/tag32.xml"/><Relationship Id="rId20" Type="http://schemas.openxmlformats.org/officeDocument/2006/relationships/image" Target="../media/image54.svg"/><Relationship Id="rId2" Type="http://schemas.openxmlformats.org/officeDocument/2006/relationships/tags" Target="../tags/tag21.xml"/><Relationship Id="rId19" Type="http://schemas.openxmlformats.org/officeDocument/2006/relationships/image" Target="../media/image53.png"/><Relationship Id="rId18" Type="http://schemas.openxmlformats.org/officeDocument/2006/relationships/tags" Target="../tags/tag31.xml"/><Relationship Id="rId17" Type="http://schemas.openxmlformats.org/officeDocument/2006/relationships/tags" Target="../tags/tag30.xml"/><Relationship Id="rId16" Type="http://schemas.openxmlformats.org/officeDocument/2006/relationships/tags" Target="../tags/tag29.xml"/><Relationship Id="rId15" Type="http://schemas.openxmlformats.org/officeDocument/2006/relationships/image" Target="../media/image52.svg"/><Relationship Id="rId14" Type="http://schemas.openxmlformats.org/officeDocument/2006/relationships/image" Target="../media/image51.png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image" Target="../media/image42.sv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image" Target="../media/image58.svg"/><Relationship Id="rId4" Type="http://schemas.openxmlformats.org/officeDocument/2006/relationships/image" Target="../media/image57.png"/><Relationship Id="rId3" Type="http://schemas.openxmlformats.org/officeDocument/2006/relationships/tags" Target="../tags/tag49.xml"/><Relationship Id="rId23" Type="http://schemas.openxmlformats.org/officeDocument/2006/relationships/notesSlide" Target="../notesSlides/notesSlide9.xml"/><Relationship Id="rId22" Type="http://schemas.openxmlformats.org/officeDocument/2006/relationships/slideLayout" Target="../slideLayouts/slideLayout12.xml"/><Relationship Id="rId21" Type="http://schemas.openxmlformats.org/officeDocument/2006/relationships/image" Target="../media/image60.svg"/><Relationship Id="rId20" Type="http://schemas.openxmlformats.org/officeDocument/2006/relationships/image" Target="../media/image59.png"/><Relationship Id="rId2" Type="http://schemas.openxmlformats.org/officeDocument/2006/relationships/tags" Target="../tags/tag48.xml"/><Relationship Id="rId19" Type="http://schemas.openxmlformats.org/officeDocument/2006/relationships/tags" Target="../tags/tag59.xml"/><Relationship Id="rId18" Type="http://schemas.openxmlformats.org/officeDocument/2006/relationships/tags" Target="../tags/tag58.xml"/><Relationship Id="rId17" Type="http://schemas.openxmlformats.org/officeDocument/2006/relationships/image" Target="../media/image14.svg"/><Relationship Id="rId16" Type="http://schemas.openxmlformats.org/officeDocument/2006/relationships/image" Target="../media/image13.png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2.png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image" Target="../media/image36.svg"/><Relationship Id="rId4" Type="http://schemas.openxmlformats.org/officeDocument/2006/relationships/image" Target="../media/image61.png"/><Relationship Id="rId3" Type="http://schemas.openxmlformats.org/officeDocument/2006/relationships/tags" Target="../tags/tag61.xml"/><Relationship Id="rId23" Type="http://schemas.openxmlformats.org/officeDocument/2006/relationships/notesSlide" Target="../notesSlides/notesSlide10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71.xml"/><Relationship Id="rId20" Type="http://schemas.openxmlformats.org/officeDocument/2006/relationships/image" Target="../media/image54.svg"/><Relationship Id="rId2" Type="http://schemas.openxmlformats.org/officeDocument/2006/relationships/tags" Target="../tags/tag60.xml"/><Relationship Id="rId19" Type="http://schemas.openxmlformats.org/officeDocument/2006/relationships/image" Target="../media/image66.png"/><Relationship Id="rId18" Type="http://schemas.openxmlformats.org/officeDocument/2006/relationships/tags" Target="../tags/tag70.xml"/><Relationship Id="rId17" Type="http://schemas.openxmlformats.org/officeDocument/2006/relationships/tags" Target="../tags/tag69.xml"/><Relationship Id="rId16" Type="http://schemas.openxmlformats.org/officeDocument/2006/relationships/tags" Target="../tags/tag68.xml"/><Relationship Id="rId15" Type="http://schemas.openxmlformats.org/officeDocument/2006/relationships/image" Target="../media/image65.svg"/><Relationship Id="rId14" Type="http://schemas.openxmlformats.org/officeDocument/2006/relationships/image" Target="../media/image64.png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image" Target="../media/image63.sv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image" Target="../media/image36.svg"/><Relationship Id="rId4" Type="http://schemas.openxmlformats.org/officeDocument/2006/relationships/image" Target="../media/image61.png"/><Relationship Id="rId3" Type="http://schemas.openxmlformats.org/officeDocument/2006/relationships/tags" Target="../tags/tag73.xml"/><Relationship Id="rId27" Type="http://schemas.openxmlformats.org/officeDocument/2006/relationships/notesSlide" Target="../notesSlides/notesSlide11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87.xml"/><Relationship Id="rId24" Type="http://schemas.openxmlformats.org/officeDocument/2006/relationships/tags" Target="../tags/tag86.xml"/><Relationship Id="rId23" Type="http://schemas.openxmlformats.org/officeDocument/2006/relationships/image" Target="../media/image72.svg"/><Relationship Id="rId22" Type="http://schemas.openxmlformats.org/officeDocument/2006/relationships/image" Target="../media/image71.png"/><Relationship Id="rId21" Type="http://schemas.openxmlformats.org/officeDocument/2006/relationships/tags" Target="../tags/tag85.xml"/><Relationship Id="rId20" Type="http://schemas.openxmlformats.org/officeDocument/2006/relationships/tags" Target="../tags/tag84.xml"/><Relationship Id="rId2" Type="http://schemas.openxmlformats.org/officeDocument/2006/relationships/tags" Target="../tags/tag72.xml"/><Relationship Id="rId19" Type="http://schemas.openxmlformats.org/officeDocument/2006/relationships/tags" Target="../tags/tag83.xml"/><Relationship Id="rId18" Type="http://schemas.openxmlformats.org/officeDocument/2006/relationships/tags" Target="../tags/tag82.xml"/><Relationship Id="rId17" Type="http://schemas.openxmlformats.org/officeDocument/2006/relationships/image" Target="../media/image70.svg"/><Relationship Id="rId16" Type="http://schemas.openxmlformats.org/officeDocument/2006/relationships/image" Target="../media/image69.png"/><Relationship Id="rId15" Type="http://schemas.openxmlformats.org/officeDocument/2006/relationships/tags" Target="../tags/tag81.xml"/><Relationship Id="rId14" Type="http://schemas.openxmlformats.org/officeDocument/2006/relationships/tags" Target="../tags/tag80.xml"/><Relationship Id="rId13" Type="http://schemas.openxmlformats.org/officeDocument/2006/relationships/tags" Target="../tags/tag79.xml"/><Relationship Id="rId12" Type="http://schemas.openxmlformats.org/officeDocument/2006/relationships/tags" Target="../tags/tag78.xml"/><Relationship Id="rId11" Type="http://schemas.openxmlformats.org/officeDocument/2006/relationships/image" Target="../media/image68.svg"/><Relationship Id="rId10" Type="http://schemas.openxmlformats.org/officeDocument/2006/relationships/image" Target="../media/image67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image" Target="../media/image74.svg"/><Relationship Id="rId4" Type="http://schemas.openxmlformats.org/officeDocument/2006/relationships/image" Target="../media/image73.png"/><Relationship Id="rId3" Type="http://schemas.openxmlformats.org/officeDocument/2006/relationships/tags" Target="../tags/tag89.xml"/><Relationship Id="rId21" Type="http://schemas.openxmlformats.org/officeDocument/2006/relationships/notesSlide" Target="../notesSlides/notesSlide12.xml"/><Relationship Id="rId20" Type="http://schemas.openxmlformats.org/officeDocument/2006/relationships/slideLayout" Target="../slideLayouts/slideLayout12.xml"/><Relationship Id="rId2" Type="http://schemas.openxmlformats.org/officeDocument/2006/relationships/tags" Target="../tags/tag88.xml"/><Relationship Id="rId19" Type="http://schemas.openxmlformats.org/officeDocument/2006/relationships/tags" Target="../tags/tag99.xml"/><Relationship Id="rId18" Type="http://schemas.openxmlformats.org/officeDocument/2006/relationships/tags" Target="../tags/tag98.xml"/><Relationship Id="rId17" Type="http://schemas.openxmlformats.org/officeDocument/2006/relationships/image" Target="../media/image16.svg"/><Relationship Id="rId16" Type="http://schemas.openxmlformats.org/officeDocument/2006/relationships/image" Target="../media/image77.png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image" Target="../media/image76.svg"/><Relationship Id="rId10" Type="http://schemas.openxmlformats.org/officeDocument/2006/relationships/image" Target="../media/image75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image" Target="../media/image79.svg"/><Relationship Id="rId4" Type="http://schemas.openxmlformats.org/officeDocument/2006/relationships/image" Target="../media/image78.png"/><Relationship Id="rId3" Type="http://schemas.openxmlformats.org/officeDocument/2006/relationships/tags" Target="../tags/tag101.xml"/><Relationship Id="rId27" Type="http://schemas.openxmlformats.org/officeDocument/2006/relationships/notesSlide" Target="../notesSlides/notesSlide13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image" Target="../media/image81.svg"/><Relationship Id="rId22" Type="http://schemas.openxmlformats.org/officeDocument/2006/relationships/image" Target="../media/image80.png"/><Relationship Id="rId21" Type="http://schemas.openxmlformats.org/officeDocument/2006/relationships/tags" Target="../tags/tag113.xml"/><Relationship Id="rId20" Type="http://schemas.openxmlformats.org/officeDocument/2006/relationships/tags" Target="../tags/tag112.xml"/><Relationship Id="rId2" Type="http://schemas.openxmlformats.org/officeDocument/2006/relationships/tags" Target="../tags/tag100.xml"/><Relationship Id="rId19" Type="http://schemas.openxmlformats.org/officeDocument/2006/relationships/tags" Target="../tags/tag111.xml"/><Relationship Id="rId18" Type="http://schemas.openxmlformats.org/officeDocument/2006/relationships/tags" Target="../tags/tag110.xml"/><Relationship Id="rId17" Type="http://schemas.openxmlformats.org/officeDocument/2006/relationships/image" Target="../media/image72.svg"/><Relationship Id="rId16" Type="http://schemas.openxmlformats.org/officeDocument/2006/relationships/image" Target="../media/image71.png"/><Relationship Id="rId15" Type="http://schemas.openxmlformats.org/officeDocument/2006/relationships/tags" Target="../tags/tag10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image" Target="../media/image54.svg"/><Relationship Id="rId10" Type="http://schemas.openxmlformats.org/officeDocument/2006/relationships/image" Target="../media/image66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21.xml"/><Relationship Id="rId8" Type="http://schemas.openxmlformats.org/officeDocument/2006/relationships/tags" Target="../tags/tag120.xml"/><Relationship Id="rId7" Type="http://schemas.openxmlformats.org/officeDocument/2006/relationships/tags" Target="../tags/tag119.xml"/><Relationship Id="rId6" Type="http://schemas.openxmlformats.org/officeDocument/2006/relationships/tags" Target="../tags/tag118.xml"/><Relationship Id="rId5" Type="http://schemas.openxmlformats.org/officeDocument/2006/relationships/image" Target="../media/image36.svg"/><Relationship Id="rId4" Type="http://schemas.openxmlformats.org/officeDocument/2006/relationships/image" Target="../media/image61.png"/><Relationship Id="rId3" Type="http://schemas.openxmlformats.org/officeDocument/2006/relationships/tags" Target="../tags/tag117.xml"/><Relationship Id="rId21" Type="http://schemas.openxmlformats.org/officeDocument/2006/relationships/notesSlide" Target="../notesSlides/notesSlide14.xml"/><Relationship Id="rId20" Type="http://schemas.openxmlformats.org/officeDocument/2006/relationships/slideLayout" Target="../slideLayouts/slideLayout12.xml"/><Relationship Id="rId2" Type="http://schemas.openxmlformats.org/officeDocument/2006/relationships/tags" Target="../tags/tag116.xml"/><Relationship Id="rId19" Type="http://schemas.openxmlformats.org/officeDocument/2006/relationships/tags" Target="../tags/tag127.xml"/><Relationship Id="rId18" Type="http://schemas.openxmlformats.org/officeDocument/2006/relationships/tags" Target="../tags/tag126.xml"/><Relationship Id="rId17" Type="http://schemas.openxmlformats.org/officeDocument/2006/relationships/image" Target="../media/image12.svg"/><Relationship Id="rId16" Type="http://schemas.openxmlformats.org/officeDocument/2006/relationships/image" Target="../media/image82.png"/><Relationship Id="rId15" Type="http://schemas.openxmlformats.org/officeDocument/2006/relationships/tags" Target="../tags/tag125.xml"/><Relationship Id="rId14" Type="http://schemas.openxmlformats.org/officeDocument/2006/relationships/tags" Target="../tags/tag124.xml"/><Relationship Id="rId13" Type="http://schemas.openxmlformats.org/officeDocument/2006/relationships/tags" Target="../tags/tag123.xml"/><Relationship Id="rId12" Type="http://schemas.openxmlformats.org/officeDocument/2006/relationships/tags" Target="../tags/tag122.xml"/><Relationship Id="rId11" Type="http://schemas.openxmlformats.org/officeDocument/2006/relationships/image" Target="../media/image72.svg"/><Relationship Id="rId10" Type="http://schemas.openxmlformats.org/officeDocument/2006/relationships/image" Target="../media/image71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tags" Target="../tags/tag132.xml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" Type="http://schemas.openxmlformats.org/officeDocument/2006/relationships/image" Target="../media/image36.svg"/><Relationship Id="rId4" Type="http://schemas.openxmlformats.org/officeDocument/2006/relationships/image" Target="../media/image61.png"/><Relationship Id="rId3" Type="http://schemas.openxmlformats.org/officeDocument/2006/relationships/tags" Target="../tags/tag129.xml"/><Relationship Id="rId21" Type="http://schemas.openxmlformats.org/officeDocument/2006/relationships/notesSlide" Target="../notesSlides/notesSlide15.xml"/><Relationship Id="rId20" Type="http://schemas.openxmlformats.org/officeDocument/2006/relationships/slideLayout" Target="../slideLayouts/slideLayout12.xml"/><Relationship Id="rId2" Type="http://schemas.openxmlformats.org/officeDocument/2006/relationships/tags" Target="../tags/tag128.xml"/><Relationship Id="rId19" Type="http://schemas.openxmlformats.org/officeDocument/2006/relationships/tags" Target="../tags/tag139.xml"/><Relationship Id="rId18" Type="http://schemas.openxmlformats.org/officeDocument/2006/relationships/tags" Target="../tags/tag138.xml"/><Relationship Id="rId17" Type="http://schemas.openxmlformats.org/officeDocument/2006/relationships/image" Target="../media/image84.svg"/><Relationship Id="rId16" Type="http://schemas.openxmlformats.org/officeDocument/2006/relationships/image" Target="../media/image83.png"/><Relationship Id="rId15" Type="http://schemas.openxmlformats.org/officeDocument/2006/relationships/tags" Target="../tags/tag137.xml"/><Relationship Id="rId14" Type="http://schemas.openxmlformats.org/officeDocument/2006/relationships/tags" Target="../tags/tag136.xml"/><Relationship Id="rId13" Type="http://schemas.openxmlformats.org/officeDocument/2006/relationships/tags" Target="../tags/tag135.xml"/><Relationship Id="rId12" Type="http://schemas.openxmlformats.org/officeDocument/2006/relationships/tags" Target="../tags/tag134.xml"/><Relationship Id="rId11" Type="http://schemas.openxmlformats.org/officeDocument/2006/relationships/image" Target="../media/image72.svg"/><Relationship Id="rId10" Type="http://schemas.openxmlformats.org/officeDocument/2006/relationships/image" Target="../media/image71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88.svg"/><Relationship Id="rId4" Type="http://schemas.openxmlformats.org/officeDocument/2006/relationships/image" Target="../media/image87.png"/><Relationship Id="rId3" Type="http://schemas.openxmlformats.org/officeDocument/2006/relationships/image" Target="../media/image86.svg"/><Relationship Id="rId2" Type="http://schemas.openxmlformats.org/officeDocument/2006/relationships/image" Target="../media/image85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45.xml"/><Relationship Id="rId8" Type="http://schemas.openxmlformats.org/officeDocument/2006/relationships/tags" Target="../tags/tag144.xml"/><Relationship Id="rId7" Type="http://schemas.openxmlformats.org/officeDocument/2006/relationships/tags" Target="../tags/tag143.xml"/><Relationship Id="rId6" Type="http://schemas.openxmlformats.org/officeDocument/2006/relationships/tags" Target="../tags/tag142.xml"/><Relationship Id="rId5" Type="http://schemas.openxmlformats.org/officeDocument/2006/relationships/image" Target="../media/image90.svg"/><Relationship Id="rId4" Type="http://schemas.openxmlformats.org/officeDocument/2006/relationships/image" Target="../media/image89.png"/><Relationship Id="rId3" Type="http://schemas.openxmlformats.org/officeDocument/2006/relationships/tags" Target="../tags/tag141.xml"/><Relationship Id="rId21" Type="http://schemas.openxmlformats.org/officeDocument/2006/relationships/notesSlide" Target="../notesSlides/notesSlide17.xml"/><Relationship Id="rId20" Type="http://schemas.openxmlformats.org/officeDocument/2006/relationships/slideLayout" Target="../slideLayouts/slideLayout12.xml"/><Relationship Id="rId2" Type="http://schemas.openxmlformats.org/officeDocument/2006/relationships/tags" Target="../tags/tag140.xml"/><Relationship Id="rId19" Type="http://schemas.openxmlformats.org/officeDocument/2006/relationships/tags" Target="../tags/tag151.xml"/><Relationship Id="rId18" Type="http://schemas.openxmlformats.org/officeDocument/2006/relationships/tags" Target="../tags/tag150.xml"/><Relationship Id="rId17" Type="http://schemas.openxmlformats.org/officeDocument/2006/relationships/image" Target="../media/image94.svg"/><Relationship Id="rId16" Type="http://schemas.openxmlformats.org/officeDocument/2006/relationships/image" Target="../media/image93.png"/><Relationship Id="rId15" Type="http://schemas.openxmlformats.org/officeDocument/2006/relationships/tags" Target="../tags/tag149.xml"/><Relationship Id="rId14" Type="http://schemas.openxmlformats.org/officeDocument/2006/relationships/tags" Target="../tags/tag148.xml"/><Relationship Id="rId13" Type="http://schemas.openxmlformats.org/officeDocument/2006/relationships/tags" Target="../tags/tag147.xml"/><Relationship Id="rId12" Type="http://schemas.openxmlformats.org/officeDocument/2006/relationships/tags" Target="../tags/tag146.xml"/><Relationship Id="rId11" Type="http://schemas.openxmlformats.org/officeDocument/2006/relationships/image" Target="../media/image92.svg"/><Relationship Id="rId10" Type="http://schemas.openxmlformats.org/officeDocument/2006/relationships/image" Target="../media/image91.pn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96.svg"/><Relationship Id="rId2" Type="http://schemas.openxmlformats.org/officeDocument/2006/relationships/image" Target="../media/image95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100000"/>
                </a:srgbClr>
              </a:gs>
              <a:gs pos="100000">
                <a:srgbClr val="3B82F6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08000" y="2032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AI家庭医生问诊Web系统可行性研究报告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28575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课程作业汇报 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>
            <a:off x="4944151" y="3561677"/>
            <a:ext cx="2303780" cy="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508000" y="4826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汇报小组：第一小组  |  指导教师：贾西平  |  日期：2026年3月24日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007BFF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60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222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032000" y="22352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引言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29210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1496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3111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032000" y="31242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</a:t>
            </a:r>
            <a:r>
              <a:rPr lang="en-US" sz="16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8100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0386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460500" y="4000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032000" y="40132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新系统</a:t>
            </a:r>
            <a:r>
              <a:rPr lang="zh-CN" altLang="en-US" sz="16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</a:t>
            </a:r>
            <a:endParaRPr lang="zh-CN" altLang="en-US" sz="1600" b="0" i="0" u="none" strike="noStrike">
              <a:solidFill>
                <a:srgbClr val="343A4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46990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9276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460500" y="4889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2032000" y="49022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可行性研究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20320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22606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21500" y="2222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493000" y="22352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可行性分析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223000" y="29210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31496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921500" y="3111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493000" y="31242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风险分析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223000" y="38100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77000" y="40386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6921500" y="4000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493000" y="40132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100000"/>
                </a:srgbClr>
              </a:gs>
              <a:gs pos="100000">
                <a:srgbClr val="343A4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7048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一、引言 - 系统</a:t>
            </a:r>
            <a:r>
              <a:rPr lang="zh-CN" alt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定位</a:t>
            </a:r>
            <a:r>
              <a:rPr 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与功能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4572000" cy="2794000"/>
          </a:xfrm>
          <a:prstGeom prst="roundRect">
            <a:avLst>
              <a:gd name="adj" fmla="val 4545"/>
            </a:avLst>
          </a:prstGeom>
          <a:solidFill>
            <a:srgbClr val="F0F8FF">
              <a:alpha val="100000"/>
            </a:srgbClr>
          </a:solidFill>
          <a:ln w="12700" cap="flat" cmpd="sng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</a:t>
            </a:r>
            <a:r>
              <a:rPr lang="zh-CN" alt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定位</a:t>
            </a:r>
            <a:endParaRPr lang="zh-CN" altLang="en-US" sz="2000" b="1" i="0" u="none" strike="noStrike">
              <a:solidFill>
                <a:srgbClr val="007B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406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一款面向普通居民的轻量化、易操作、合规安全的AI家庭医生问诊Web系统。系统以B/S架构为基础，旨在提供便捷的健康咨询服务，连接用户与医疗资源，实现初步的健康管理闭环。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842000" y="19050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2000" y="2413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223000" y="23876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引导式AI问诊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27178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通过自然语言交互，引导用户描述症状，进行初步分析与问诊。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2000" y="3238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223000" y="32131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病情初步分析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35433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基于用户输入的症状信息，提供可能的病情分析和基础健康建议。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42000" y="4064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223000" y="40386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挂号分诊指导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43688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根据症状智能推荐合适的就诊科室，并提供就医优先级建议。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42000" y="4889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223000" y="48641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个人与家庭健康档案管理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51943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统一管理个人及家庭成员的健康信息、问诊记录与体检报告。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5029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一、引言 - 运行环境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22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184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前端技术栈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667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Vue3, Vite, Element Plus, Axios, Pinia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2032000"/>
            <a:ext cx="3429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222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43500" y="2184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后端技术栈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2667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Java, SpringBoot, SpringMVC, MyBatis-Plus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01000" y="2032000"/>
            <a:ext cx="3429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2222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763000" y="2184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55000" y="2667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MySQL 8.0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3683000"/>
            <a:ext cx="52324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3873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24000" y="3835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AI能力层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16000" y="4318000"/>
            <a:ext cx="4724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国内主流大模型API（如文心一言、通义千问等）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197600" y="3683000"/>
            <a:ext cx="52324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51600" y="38735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959600" y="3835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部署环境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51600" y="4318000"/>
            <a:ext cx="4724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云服务器学生机，Docker容器化部署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8051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二、</a:t>
            </a:r>
            <a:r>
              <a:rPr lang="zh-CN" alt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</a:t>
            </a:r>
            <a:r>
              <a:rPr 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 - 国内现状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524000" y="2260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市场规模增长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016000" y="2794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我国在线医疗用户规模已突破7亿，AI问诊的接受度逐年提升，市场潜力巨大。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4445000" y="2032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99000" y="2286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5207000" y="2260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现有产品痛点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4699000" y="2794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主流AI平台功能繁杂，</a:t>
            </a:r>
            <a:r>
              <a:rPr lang="zh-CN" alt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无医疗针对性，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缺乏轻量化、</a:t>
            </a:r>
            <a:r>
              <a:rPr lang="zh-CN" alt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专注于医疗领域的</a:t>
            </a:r>
            <a:r>
              <a:rPr lang="en-US" altLang="zh-CN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8128000" y="2032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82000" y="2286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8"/>
            </p:custDataLst>
          </p:nvPr>
        </p:nvSpPr>
        <p:spPr>
          <a:xfrm>
            <a:off x="8890000" y="2260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技术门槛降低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9"/>
            </p:custDataLst>
          </p:nvPr>
        </p:nvSpPr>
        <p:spPr>
          <a:xfrm>
            <a:off x="8382000" y="2794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开源前后端框架成熟，商用大模型API提供免费调用额度，为项目开发提供了便利。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826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DEE2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5080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总结：市场需求迫切，技术条件成熟，项目具备可行性与发展潜力。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10617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二、</a:t>
            </a:r>
            <a:r>
              <a:rPr lang="zh-CN" alt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</a:t>
            </a:r>
            <a:r>
              <a:rPr 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 - 用户痛点与需求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14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用户痛点分析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222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就医意愿低：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小病小痛不想专门跑医院，耗时长。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921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2857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挂号迷茫：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身体不适时不知道该挂哪个科室的号。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556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3492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信息管理混乱：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个人和家庭的健康信息记录零散，缺乏统一管理。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604000" y="1714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目标用户群体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2286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2222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高校师生</a:t>
            </a:r>
            <a:r>
              <a:rPr lang="zh-CN" alt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等青年</a:t>
            </a: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群体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时间宝贵，对数字化工具接受度高，追求高效便捷的服务体验。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3175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3111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普通居民及家庭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有日常健康自查需求，特别是需要管理家人健康数据的用户。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7BFF">
              <a:alpha val="1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6000" y="55626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460500" y="5461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</a:t>
            </a:r>
            <a:r>
              <a:rPr lang="en-US" sz="16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系统设计旨在解决就医流程繁琐与信息管理缺失的问题，重点服务于追求效率的</a:t>
            </a:r>
            <a:r>
              <a:rPr lang="zh-CN" altLang="en-US" sz="16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年轻</a:t>
            </a:r>
            <a:r>
              <a:rPr lang="en-US" sz="16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群体及关注家庭健康的普通用户。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三、新系统</a:t>
            </a:r>
            <a:r>
              <a:rPr lang="zh-CN" alt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</a:t>
            </a:r>
            <a:r>
              <a:rPr 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- 改进之处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2"/>
            </p:custDataLst>
          </p:nvPr>
        </p:nvSpPr>
        <p:spPr>
          <a:xfrm>
            <a:off x="2615565" y="189611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07B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1765" y="215011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6"/>
            </p:custDataLst>
          </p:nvPr>
        </p:nvSpPr>
        <p:spPr>
          <a:xfrm>
            <a:off x="2869565" y="291211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功能聚焦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7"/>
            </p:custDataLst>
          </p:nvPr>
        </p:nvSpPr>
        <p:spPr>
          <a:xfrm>
            <a:off x="2869565" y="342011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专注于问诊、健康档案、家庭管理三大核心功能，无冗余功能，操作简单。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8"/>
            </p:custDataLst>
          </p:nvPr>
        </p:nvSpPr>
        <p:spPr>
          <a:xfrm>
            <a:off x="6298565" y="189611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07B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44765" y="215011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6552565" y="291211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合规性优先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6552565" y="342011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明确AI服务边界，不做诊断，仅提供参考，并完善隐私保护和免责声明，规避合规风险。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三、新系统</a:t>
            </a:r>
            <a:r>
              <a:rPr lang="zh-CN" alt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</a:t>
            </a:r>
            <a:r>
              <a:rPr 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- 系统角色与功能模块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系统角色定义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2159000"/>
            <a:ext cx="4572000" cy="1016000"/>
          </a:xfrm>
          <a:prstGeom prst="roundRect">
            <a:avLst>
              <a:gd name="adj" fmla="val 12500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4638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460500" y="2286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普通用户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使用系统进行问诊、管理个人健康档案</a:t>
            </a:r>
            <a:endParaRPr lang="en-US" sz="13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762000" y="3302000"/>
            <a:ext cx="4572000" cy="1016000"/>
          </a:xfrm>
          <a:prstGeom prst="roundRect">
            <a:avLst>
              <a:gd name="adj" fmla="val 12500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36068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1460500" y="3429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家人用户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被添加至家庭账户，共享健康信息与服务</a:t>
            </a:r>
            <a:endParaRPr lang="en-US" sz="13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762000" y="4445000"/>
            <a:ext cx="4572000" cy="1016000"/>
          </a:xfrm>
          <a:prstGeom prst="roundRect">
            <a:avLst>
              <a:gd name="adj" fmla="val 12500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52500" y="47498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1460500" y="4572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管理员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负责系统后台配置、用户数据维护与运营</a:t>
            </a:r>
            <a:endParaRPr lang="en-US" sz="13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842000" y="16510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核心功能模块架构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7"/>
            </p:custDataLst>
          </p:nvPr>
        </p:nvSpPr>
        <p:spPr>
          <a:xfrm>
            <a:off x="5842000" y="2159000"/>
            <a:ext cx="1651000" cy="889000"/>
          </a:xfrm>
          <a:prstGeom prst="roundRect">
            <a:avLst>
              <a:gd name="adj" fmla="val 14285"/>
            </a:avLst>
          </a:prstGeom>
          <a:solidFill>
            <a:srgbClr val="E9EC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515100" y="2286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1"/>
            </p:custDataLst>
          </p:nvPr>
        </p:nvSpPr>
        <p:spPr>
          <a:xfrm>
            <a:off x="5842000" y="26670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用户管理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2"/>
            </p:custDataLst>
          </p:nvPr>
        </p:nvSpPr>
        <p:spPr>
          <a:xfrm>
            <a:off x="7620000" y="2159000"/>
            <a:ext cx="1651000" cy="889000"/>
          </a:xfrm>
          <a:prstGeom prst="roundRect">
            <a:avLst>
              <a:gd name="adj" fmla="val 14285"/>
            </a:avLst>
          </a:prstGeom>
          <a:solidFill>
            <a:srgbClr val="E9EC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293100" y="2286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26"/>
            </p:custDataLst>
          </p:nvPr>
        </p:nvSpPr>
        <p:spPr>
          <a:xfrm>
            <a:off x="7620000" y="26670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AI问诊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27"/>
            </p:custDataLst>
          </p:nvPr>
        </p:nvSpPr>
        <p:spPr>
          <a:xfrm>
            <a:off x="9398000" y="2159000"/>
            <a:ext cx="1651000" cy="889000"/>
          </a:xfrm>
          <a:prstGeom prst="roundRect">
            <a:avLst>
              <a:gd name="adj" fmla="val 14285"/>
            </a:avLst>
          </a:prstGeom>
          <a:solidFill>
            <a:srgbClr val="E9EC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071100" y="2286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>
            <p:custDataLst>
              <p:tags r:id="rId31"/>
            </p:custDataLst>
          </p:nvPr>
        </p:nvSpPr>
        <p:spPr>
          <a:xfrm>
            <a:off x="9398000" y="26670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档案管理</a:t>
            </a:r>
            <a:endParaRPr lang="en-US" sz="1100"/>
          </a:p>
        </p:txBody>
      </p:sp>
      <p:sp>
        <p:nvSpPr>
          <p:cNvPr id="25" name="AutoShape 25"/>
          <p:cNvSpPr/>
          <p:nvPr>
            <p:custDataLst>
              <p:tags r:id="rId32"/>
            </p:custDataLst>
          </p:nvPr>
        </p:nvSpPr>
        <p:spPr>
          <a:xfrm>
            <a:off x="5842000" y="3175000"/>
            <a:ext cx="1651000" cy="889000"/>
          </a:xfrm>
          <a:prstGeom prst="roundRect">
            <a:avLst>
              <a:gd name="adj" fmla="val 14285"/>
            </a:avLst>
          </a:prstGeom>
          <a:solidFill>
            <a:srgbClr val="E9EC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15100" y="33020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>
            <p:custDataLst>
              <p:tags r:id="rId34"/>
            </p:custDataLst>
          </p:nvPr>
        </p:nvSpPr>
        <p:spPr>
          <a:xfrm>
            <a:off x="5842000" y="36830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家庭管理</a:t>
            </a:r>
            <a:endParaRPr lang="en-US" sz="1100"/>
          </a:p>
        </p:txBody>
      </p:sp>
      <p:sp>
        <p:nvSpPr>
          <p:cNvPr id="28" name="AutoShape 28"/>
          <p:cNvSpPr/>
          <p:nvPr>
            <p:custDataLst>
              <p:tags r:id="rId35"/>
            </p:custDataLst>
          </p:nvPr>
        </p:nvSpPr>
        <p:spPr>
          <a:xfrm>
            <a:off x="7620000" y="3175000"/>
            <a:ext cx="1651000" cy="889000"/>
          </a:xfrm>
          <a:prstGeom prst="roundRect">
            <a:avLst>
              <a:gd name="adj" fmla="val 14285"/>
            </a:avLst>
          </a:prstGeom>
          <a:solidFill>
            <a:srgbClr val="E9EC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8293100" y="33020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>
            <p:custDataLst>
              <p:tags r:id="rId39"/>
            </p:custDataLst>
          </p:nvPr>
        </p:nvSpPr>
        <p:spPr>
          <a:xfrm>
            <a:off x="7620000" y="36830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挂号分诊</a:t>
            </a:r>
            <a:endParaRPr lang="en-US" sz="1100"/>
          </a:p>
        </p:txBody>
      </p:sp>
      <p:sp>
        <p:nvSpPr>
          <p:cNvPr id="34" name="AutoShape 34"/>
          <p:cNvSpPr/>
          <p:nvPr>
            <p:custDataLst>
              <p:tags r:id="rId40"/>
            </p:custDataLst>
          </p:nvPr>
        </p:nvSpPr>
        <p:spPr>
          <a:xfrm>
            <a:off x="9398000" y="3175000"/>
            <a:ext cx="1651000" cy="889000"/>
          </a:xfrm>
          <a:prstGeom prst="roundRect">
            <a:avLst>
              <a:gd name="adj" fmla="val 14285"/>
            </a:avLst>
          </a:prstGeom>
          <a:solidFill>
            <a:srgbClr val="E9EC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071100" y="3302000"/>
            <a:ext cx="304800" cy="304800"/>
          </a:xfrm>
          <a:prstGeom prst="rect">
            <a:avLst/>
          </a:prstGeom>
        </p:spPr>
      </p:pic>
      <p:sp>
        <p:nvSpPr>
          <p:cNvPr id="36" name="AutoShape 36"/>
          <p:cNvSpPr/>
          <p:nvPr>
            <p:custDataLst>
              <p:tags r:id="rId44"/>
            </p:custDataLst>
          </p:nvPr>
        </p:nvSpPr>
        <p:spPr>
          <a:xfrm>
            <a:off x="9398000" y="36830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后台管理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762000" y="5842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762000" y="5969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构建完整的健康管理闭环，覆盖用户端、家庭端与管理端全场景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654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三、新系统</a:t>
            </a:r>
            <a:r>
              <a:rPr lang="zh-CN" alt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</a:t>
            </a:r>
            <a:r>
              <a:rPr 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- 局限性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286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016000" y="2921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AI能力局限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016000" y="33655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专业知识不够充分，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仅能提供初步分析和建议，无法替代执业医师的专业诊断。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4445000" y="2032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99000" y="2286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4699000" y="2921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数据局限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4699000" y="33655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系统的分析依赖于用户输入的信息，缺乏实时的生理数据监测。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8128000" y="2032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82000" y="2286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8"/>
            </p:custDataLst>
          </p:nvPr>
        </p:nvSpPr>
        <p:spPr>
          <a:xfrm>
            <a:off x="8382000" y="2921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应用场景局限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9"/>
            </p:custDataLst>
          </p:nvPr>
        </p:nvSpPr>
        <p:spPr>
          <a:xfrm>
            <a:off x="8382000" y="33655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受法律伦理因素影响，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系统定位</a:t>
            </a:r>
            <a:r>
              <a:rPr lang="zh-CN" alt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为健康咨询</a:t>
            </a:r>
            <a:r>
              <a:rPr lang="zh-CN" alt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、挂号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辅助工具，不能用于处理</a:t>
            </a:r>
            <a:r>
              <a:rPr lang="zh-CN" alt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具体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医疗情况。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699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7BFF">
              <a:alpha val="1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16000" y="49276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97000" y="4851400"/>
            <a:ext cx="990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核心认知：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系统旨在辅助健康管理，不能替代专业医疗机构的诊断与治疗服务。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762000"/>
            <a:ext cx="7543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四、可行性研究 - 研究要点与目标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828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524000" y="1905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技术可行性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技术是否成熟，团队能力是否匹配现有架构。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762000" y="2921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32258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1"/>
            </p:custDataLst>
          </p:nvPr>
        </p:nvSpPr>
        <p:spPr>
          <a:xfrm>
            <a:off x="1524000" y="3048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经济可行性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开发成本是否可控，预期经济效益如何。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762000" y="4064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16000" y="43688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6"/>
            </p:custDataLst>
          </p:nvPr>
        </p:nvSpPr>
        <p:spPr>
          <a:xfrm>
            <a:off x="1524000" y="4191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操作可行性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系统是否易于使用，用户接受度与学习成本。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7"/>
            </p:custDataLst>
          </p:nvPr>
        </p:nvSpPr>
        <p:spPr>
          <a:xfrm>
            <a:off x="762000" y="5207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16000" y="55118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21"/>
            </p:custDataLst>
          </p:nvPr>
        </p:nvSpPr>
        <p:spPr>
          <a:xfrm>
            <a:off x="1524000" y="5334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社会可行性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是否符合政策法规，是否满足社会伦理需求。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350000" y="1778000"/>
            <a:ext cx="5080000" cy="4445000"/>
          </a:xfrm>
          <a:prstGeom prst="roundRect">
            <a:avLst>
              <a:gd name="adj" fmla="val 2857"/>
            </a:avLst>
          </a:prstGeom>
          <a:solidFill>
            <a:srgbClr val="E9ECEF">
              <a:alpha val="6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604000" y="2032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研究目标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0" y="2667000"/>
            <a:ext cx="457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全面评估项目在技术、经济、操作和社会四个维度的可行性，明确项目的开发方向、潜在风险和成功要素，为项目决策提供依据。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549">
            <a:off x="6604009" y="2533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7035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五、可行性分析 - 技术可行性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905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95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524000" y="2057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技术成熟度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016000" y="25400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选用Vue3、SpringBoot、MySQL等成熟开源框架，属于核心教学内容，资料丰富，易于团队快速上手开发。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6350000" y="1905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2095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7112000" y="2057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技术能力匹配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6604000" y="25400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开发团队均为软件工程专业学生，具备扎实的课程知识基础，能够熟练运用相关技术栈，胜任开发任务。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762000" y="3810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6000" y="4000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8"/>
            </p:custDataLst>
          </p:nvPr>
        </p:nvSpPr>
        <p:spPr>
          <a:xfrm>
            <a:off x="1524000" y="3962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开发难度与扩展性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9"/>
            </p:custDataLst>
          </p:nvPr>
        </p:nvSpPr>
        <p:spPr>
          <a:xfrm>
            <a:off x="1016000" y="44450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系统架构清晰，模块划分合理，难度可控。采用前后端分离架构，降低耦合度，便于未来功能扩展和维护。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20"/>
            </p:custDataLst>
          </p:nvPr>
        </p:nvSpPr>
        <p:spPr>
          <a:xfrm>
            <a:off x="6350000" y="3810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604000" y="4000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4"/>
            </p:custDataLst>
          </p:nvPr>
        </p:nvSpPr>
        <p:spPr>
          <a:xfrm>
            <a:off x="7112000" y="3962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关键技术难点与解决方案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25"/>
            </p:custDataLst>
          </p:nvPr>
        </p:nvSpPr>
        <p:spPr>
          <a:xfrm>
            <a:off x="6604000" y="44450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针对AI接口集成与合规性难点，选用稳定API服务商，通过提示词工程优化输出，并建立严格内容审核机制确保合规。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7035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五、可行性分析 - 经济可行性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524000" y="2260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成本分析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016000" y="2794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项目为课程作业，开发成本极低。主要成本为云服务器费用，可使用价格低廉的学生机，AI API调用也可使用免费额度。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4445000" y="2032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99000" y="2286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5207000" y="2260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经济效益分析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4699000" y="2794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非商用项目，主要目标是完成课程作业，提升团队开发与协作能力。成果可作为后续开源或创新创业项目基础，具备长期价值。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8128000" y="2032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82000" y="2286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8"/>
            </p:custDataLst>
          </p:nvPr>
        </p:nvSpPr>
        <p:spPr>
          <a:xfrm>
            <a:off x="8890000" y="2260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可行性结论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9"/>
            </p:custDataLst>
          </p:nvPr>
        </p:nvSpPr>
        <p:spPr>
          <a:xfrm>
            <a:off x="8382000" y="2794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开发成本可控，符合学生的经济承受能力，项目具备明确的经济可行性。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826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7B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508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结论：低成本投入，高学习价值与潜在发展空间，项目经济可行性高。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五、可行性分析 - 社会可行性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286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778000" y="2222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政策支持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778000" y="2667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国家大力推进“互联网+医疗健康”发展，为项目提供了良好的政策环境与发展机遇。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6350000" y="2032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2286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7366000" y="2222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社会需求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7366000" y="2667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居民健康管理意识显著提升，对便捷、高效的健康咨询工具需求旺盛，项目高度契合社会需求。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762000" y="3937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6000" y="4191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8"/>
            </p:custDataLst>
          </p:nvPr>
        </p:nvSpPr>
        <p:spPr>
          <a:xfrm>
            <a:off x="1778000" y="4127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合规性保障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9"/>
            </p:custDataLst>
          </p:nvPr>
        </p:nvSpPr>
        <p:spPr>
          <a:xfrm>
            <a:off x="1778000" y="4572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严格遵守生成式AI和个人信息保护法规，明确服务边界，全方位保障用户隐私与数据安全。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20"/>
            </p:custDataLst>
          </p:nvPr>
        </p:nvSpPr>
        <p:spPr>
          <a:xfrm>
            <a:off x="6350000" y="3937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604000" y="41910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4"/>
            </p:custDataLst>
          </p:nvPr>
        </p:nvSpPr>
        <p:spPr>
          <a:xfrm>
            <a:off x="7366000" y="4127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环境友好性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25"/>
            </p:custDataLst>
          </p:nvPr>
        </p:nvSpPr>
        <p:spPr>
          <a:xfrm>
            <a:off x="7366000" y="4572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项目为纯软件系统，无实体生产环节，无直接的环境负面影响，符合绿色可持续发展理念。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603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六、风险分析 - 风险识别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524000" y="2260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技术风险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016000" y="2794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AI接口服务不稳定或调用受限</a:t>
            </a:r>
            <a:endParaRPr lang="en-US" sz="1100"/>
          </a:p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用户数据存储和传输过程中的安全风险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4445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99000" y="2286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5207000" y="2260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合规风险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4699000" y="2794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AI生成内容可能涉及医疗信息合规问题</a:t>
            </a:r>
            <a:endParaRPr lang="en-US" sz="1100"/>
          </a:p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用户隐私数据保护不当引发的法律风险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8128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82000" y="2286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8"/>
            </p:custDataLst>
          </p:nvPr>
        </p:nvSpPr>
        <p:spPr>
          <a:xfrm>
            <a:off x="8890000" y="2260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运营风险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9"/>
            </p:custDataLst>
          </p:nvPr>
        </p:nvSpPr>
        <p:spPr>
          <a:xfrm>
            <a:off x="8382000" y="2794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用户对AI问诊的接受度不高</a:t>
            </a:r>
            <a:endParaRPr lang="en-US" sz="1100"/>
          </a:p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系统推广和用户获取难度较大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六、风险分析 - 应对措施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524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7B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524000" y="1752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技术风险应对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016000" y="2286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8000"/>
              </a:lnSpc>
              <a:buClr>
                <a:srgbClr val="343A40"/>
              </a:buClr>
              <a:buChar char="•"/>
              <a:defRPr/>
            </a:pPr>
            <a:r>
              <a:rPr lang="en-US" sz="14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选择多个稳定的AI API服务商作为备选，降低单点依赖风险。</a:t>
            </a:r>
            <a:endParaRPr lang="en-US" sz="1100"/>
          </a:p>
          <a:p>
            <a:pPr marL="177800" indent="-177800" algn="l">
              <a:lnSpc>
                <a:spcPct val="108000"/>
              </a:lnSpc>
              <a:buClr>
                <a:srgbClr val="343A40"/>
              </a:buClr>
              <a:buChar char="•"/>
            </a:pPr>
            <a:r>
              <a:rPr lang="en-US" sz="14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对用户敏感数据进行加密存储和传输，定期开展安全审计。</a:t>
            </a:r>
            <a:endParaRPr lang="en-US" sz="1400" b="0" i="0" u="none" strike="noStrike">
              <a:solidFill>
                <a:srgbClr val="343A4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4445000" y="1524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7B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99000" y="1778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5207000" y="1752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合规风险应对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4699000" y="2286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8000"/>
              </a:lnSpc>
              <a:buClr>
                <a:srgbClr val="343A40"/>
              </a:buClr>
              <a:buChar char="•"/>
              <a:defRPr/>
            </a:pPr>
            <a:r>
              <a:rPr lang="en-US" sz="14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建立AI输出内容审核机制，预设禁止词库，确保内容合规。</a:t>
            </a:r>
            <a:endParaRPr lang="en-US" sz="1100"/>
          </a:p>
          <a:p>
            <a:pPr marL="177800" indent="-177800" algn="l">
              <a:lnSpc>
                <a:spcPct val="108000"/>
              </a:lnSpc>
              <a:buClr>
                <a:srgbClr val="343A40"/>
              </a:buClr>
              <a:buChar char="•"/>
            </a:pPr>
            <a:r>
              <a:rPr lang="en-US" sz="14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完善用户协议和隐私政策，明确用户数据的使用范围和方式。</a:t>
            </a:r>
            <a:endParaRPr lang="en-US" sz="1400" b="0" i="0" u="none" strike="noStrike">
              <a:solidFill>
                <a:srgbClr val="343A4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8128000" y="1524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7B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82000" y="1778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8"/>
            </p:custDataLst>
          </p:nvPr>
        </p:nvSpPr>
        <p:spPr>
          <a:xfrm>
            <a:off x="8890000" y="1752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运营风险应对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9"/>
            </p:custDataLst>
          </p:nvPr>
        </p:nvSpPr>
        <p:spPr>
          <a:xfrm>
            <a:off x="8382000" y="2286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8000"/>
              </a:lnSpc>
              <a:buClr>
                <a:srgbClr val="343A40"/>
              </a:buClr>
              <a:buChar char="•"/>
              <a:defRPr/>
            </a:pPr>
            <a:r>
              <a:rPr lang="en-US" sz="14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精准定位目标用户（如高校师生），进行小范围推广和测试。</a:t>
            </a:r>
            <a:endParaRPr lang="en-US" sz="1100"/>
          </a:p>
          <a:p>
            <a:pPr marL="177800" indent="-177800" algn="l">
              <a:lnSpc>
                <a:spcPct val="108000"/>
              </a:lnSpc>
              <a:buClr>
                <a:srgbClr val="343A40"/>
              </a:buClr>
              <a:buChar char="•"/>
            </a:pPr>
            <a:r>
              <a:rPr lang="en-US" sz="1400" b="0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持续优化用户界面和交互体验，收集反馈提升用户满意度。</a:t>
            </a:r>
            <a:endParaRPr lang="en-US" sz="1400" b="0" i="0" u="none" strike="noStrike">
              <a:solidFill>
                <a:srgbClr val="343A4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4953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7B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89000" y="5080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通过技术冗余、合规审查与精细化运营，构建全方位的风险防控体系，保障项目稳健推进。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711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七、结论 - 可行性综合结论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14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10668000" cy="2540000"/>
          </a:xfrm>
          <a:prstGeom prst="roundRect">
            <a:avLst>
              <a:gd name="adj" fmla="val 5000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4130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032000" y="2349500"/>
            <a:ext cx="889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技术、经济、操作、社会四个维度的分析，本项目贴合课程教学要求，技术成熟易实现，开发成本极低，符合学生经济承受能力。项目流程清晰，任务可拆分，小组协作可顺利完成，且兼具学习价值与实用价值，无合规风险与环境风险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826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07BFF">
              <a:alpha val="10000"/>
            </a:srgbClr>
          </a:solidFill>
          <a:ln w="12700" cap="flat" cmpd="sng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51308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5080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结论：本项目完全具备可行性，适合作为</a:t>
            </a:r>
            <a:r>
              <a:rPr lang="zh-CN" alt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学期</a:t>
            </a: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大作业开展开发工作。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七、结论 - 后续建议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524000" y="2260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持续优化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016000" y="2794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根据用户反馈，持续优化系统功能和用户体验，确保系统稳定性与易用性。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4445000" y="2032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99000" y="2286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5207000" y="2260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场景拓展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4699000" y="2794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探索与校医院、社区卫生服务中心等机构对接，拓展应用场景，服务更多人群。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8128000" y="2032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82000" y="2286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8"/>
            </p:custDataLst>
          </p:nvPr>
        </p:nvSpPr>
        <p:spPr>
          <a:xfrm>
            <a:off x="8890000" y="2260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项目延伸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9"/>
            </p:custDataLst>
          </p:nvPr>
        </p:nvSpPr>
        <p:spPr>
          <a:xfrm>
            <a:off x="8382000" y="2794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将项目作为开源项目持续维护，或进一步发展为创新创业项目，参加相关竞赛。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826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E9EC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5080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展望未来：</a:t>
            </a:r>
            <a:r>
              <a:rPr lang="en-US" sz="16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我们将致力于将该项目打造为具有实际应用价值的成熟产品，不断迭代升级，服务社会。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00" y="1778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4749800" y="2540000"/>
            <a:ext cx="2692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0" y="3429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422900" y="3683000"/>
            <a:ext cx="1346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556000" y="431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</a:t>
            </a:r>
            <a:r>
              <a:rPr lang="zh-CN" altLang="en-US" sz="16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大家</a:t>
            </a:r>
            <a:r>
              <a:rPr lang="en-US" sz="16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提问与交流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2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3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4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5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6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7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8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9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10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11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12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13.xml><?xml version="1.0" encoding="utf-8"?>
<p:tagLst xmlns:p="http://schemas.openxmlformats.org/presentationml/2006/main">
  <p:tag name="KSO_WM_DIAGRAM_VIRTUALLY_FRAME" val="{&quot;height&quot;:260,&quot;left&quot;:188.35,&quot;top&quot;:149.3,&quot;width&quot;:567.6}"/>
</p:tagLst>
</file>

<file path=ppt/tags/tag14.xml><?xml version="1.0" encoding="utf-8"?>
<p:tagLst xmlns:p="http://schemas.openxmlformats.org/presentationml/2006/main">
  <p:tag name="KSO_WM_DIAGRAM_VIRTUALLY_FRAME" val="{&quot;height&quot;:260,&quot;left&quot;:188.35,&quot;top&quot;:149.3,&quot;width&quot;:567.6}"/>
</p:tagLst>
</file>

<file path=ppt/tags/tag15.xml><?xml version="1.0" encoding="utf-8"?>
<p:tagLst xmlns:p="http://schemas.openxmlformats.org/presentationml/2006/main">
  <p:tag name="KSO_WM_DIAGRAM_VIRTUALLY_FRAME" val="{&quot;height&quot;:260,&quot;left&quot;:188.35,&quot;top&quot;:149.3,&quot;width&quot;:567.6}"/>
</p:tagLst>
</file>

<file path=ppt/tags/tag16.xml><?xml version="1.0" encoding="utf-8"?>
<p:tagLst xmlns:p="http://schemas.openxmlformats.org/presentationml/2006/main">
  <p:tag name="KSO_WM_DIAGRAM_VIRTUALLY_FRAME" val="{&quot;height&quot;:260,&quot;left&quot;:188.35,&quot;top&quot;:149.3,&quot;width&quot;:567.6}"/>
</p:tagLst>
</file>

<file path=ppt/tags/tag17.xml><?xml version="1.0" encoding="utf-8"?>
<p:tagLst xmlns:p="http://schemas.openxmlformats.org/presentationml/2006/main">
  <p:tag name="KSO_WM_DIAGRAM_VIRTUALLY_FRAME" val="{&quot;height&quot;:260,&quot;left&quot;:188.35,&quot;top&quot;:149.3,&quot;width&quot;:567.6}"/>
</p:tagLst>
</file>

<file path=ppt/tags/tag18.xml><?xml version="1.0" encoding="utf-8"?>
<p:tagLst xmlns:p="http://schemas.openxmlformats.org/presentationml/2006/main">
  <p:tag name="KSO_WM_DIAGRAM_VIRTUALLY_FRAME" val="{&quot;height&quot;:260,&quot;left&quot;:188.35,&quot;top&quot;:149.3,&quot;width&quot;:567.6}"/>
</p:tagLst>
</file>

<file path=ppt/tags/tag19.xml><?xml version="1.0" encoding="utf-8"?>
<p:tagLst xmlns:p="http://schemas.openxmlformats.org/presentationml/2006/main">
  <p:tag name="KSO_WM_DIAGRAM_VIRTUALLY_FRAME" val="{&quot;height&quot;:260,&quot;left&quot;:188.35,&quot;top&quot;:149.3,&quot;width&quot;:567.6}"/>
</p:tagLst>
</file>

<file path=ppt/tags/tag20.xml><?xml version="1.0" encoding="utf-8"?>
<p:tagLst xmlns:p="http://schemas.openxmlformats.org/presentationml/2006/main">
  <p:tag name="KSO_WM_DIAGRAM_VIRTUALLY_FRAME" val="{&quot;height&quot;:260,&quot;left&quot;:188.35,&quot;top&quot;:149.3,&quot;width&quot;:567.6}"/>
</p:tagLst>
</file>

<file path=ppt/tags/tag21.xml><?xml version="1.0" encoding="utf-8"?>
<p:tagLst xmlns:p="http://schemas.openxmlformats.org/presentationml/2006/main">
  <p:tag name="KSO_WM_DIAGRAM_VIRTUALLY_FRAME" val="{&quot;height&quot;:260,&quot;left&quot;:60,&quot;top&quot;:170,&quot;width&quot;:810}"/>
</p:tagLst>
</file>

<file path=ppt/tags/tag22.xml><?xml version="1.0" encoding="utf-8"?>
<p:tagLst xmlns:p="http://schemas.openxmlformats.org/presentationml/2006/main">
  <p:tag name="KSO_WM_DIAGRAM_VIRTUALLY_FRAME" val="{&quot;height&quot;:260,&quot;left&quot;:60,&quot;top&quot;:170,&quot;width&quot;:810}"/>
</p:tagLst>
</file>

<file path=ppt/tags/tag23.xml><?xml version="1.0" encoding="utf-8"?>
<p:tagLst xmlns:p="http://schemas.openxmlformats.org/presentationml/2006/main">
  <p:tag name="KSO_WM_DIAGRAM_VIRTUALLY_FRAME" val="{&quot;height&quot;:260,&quot;left&quot;:60,&quot;top&quot;:170,&quot;width&quot;:810}"/>
</p:tagLst>
</file>

<file path=ppt/tags/tag24.xml><?xml version="1.0" encoding="utf-8"?>
<p:tagLst xmlns:p="http://schemas.openxmlformats.org/presentationml/2006/main">
  <p:tag name="KSO_WM_DIAGRAM_VIRTUALLY_FRAME" val="{&quot;height&quot;:260,&quot;left&quot;:60,&quot;top&quot;:170,&quot;width&quot;:810}"/>
</p:tagLst>
</file>

<file path=ppt/tags/tag25.xml><?xml version="1.0" encoding="utf-8"?>
<p:tagLst xmlns:p="http://schemas.openxmlformats.org/presentationml/2006/main">
  <p:tag name="KSO_WM_DIAGRAM_VIRTUALLY_FRAME" val="{&quot;height&quot;:260,&quot;left&quot;:60,&quot;top&quot;:170,&quot;width&quot;:810}"/>
</p:tagLst>
</file>

<file path=ppt/tags/tag26.xml><?xml version="1.0" encoding="utf-8"?>
<p:tagLst xmlns:p="http://schemas.openxmlformats.org/presentationml/2006/main">
  <p:tag name="KSO_WM_DIAGRAM_VIRTUALLY_FRAME" val="{&quot;height&quot;:260,&quot;left&quot;:60,&quot;top&quot;:170,&quot;width&quot;:810}"/>
</p:tagLst>
</file>

<file path=ppt/tags/tag27.xml><?xml version="1.0" encoding="utf-8"?>
<p:tagLst xmlns:p="http://schemas.openxmlformats.org/presentationml/2006/main">
  <p:tag name="KSO_WM_DIAGRAM_VIRTUALLY_FRAME" val="{&quot;height&quot;:260,&quot;left&quot;:60,&quot;top&quot;:170,&quot;width&quot;:810}"/>
</p:tagLst>
</file>

<file path=ppt/tags/tag28.xml><?xml version="1.0" encoding="utf-8"?>
<p:tagLst xmlns:p="http://schemas.openxmlformats.org/presentationml/2006/main">
  <p:tag name="KSO_WM_DIAGRAM_VIRTUALLY_FRAME" val="{&quot;height&quot;:260,&quot;left&quot;:60,&quot;top&quot;:170,&quot;width&quot;:810}"/>
</p:tagLst>
</file>

<file path=ppt/tags/tag29.xml><?xml version="1.0" encoding="utf-8"?>
<p:tagLst xmlns:p="http://schemas.openxmlformats.org/presentationml/2006/main">
  <p:tag name="KSO_WM_DIAGRAM_VIRTUALLY_FRAME" val="{&quot;height&quot;:260,&quot;left&quot;:60,&quot;top&quot;:170,&quot;width&quot;:810}"/>
</p:tagLst>
</file>

<file path=ppt/tags/tag30.xml><?xml version="1.0" encoding="utf-8"?>
<p:tagLst xmlns:p="http://schemas.openxmlformats.org/presentationml/2006/main">
  <p:tag name="KSO_WM_DIAGRAM_VIRTUALLY_FRAME" val="{&quot;height&quot;:260,&quot;left&quot;:60,&quot;top&quot;:170,&quot;width&quot;:810}"/>
</p:tagLst>
</file>

<file path=ppt/tags/tag31.xml><?xml version="1.0" encoding="utf-8"?>
<p:tagLst xmlns:p="http://schemas.openxmlformats.org/presentationml/2006/main">
  <p:tag name="KSO_WM_DIAGRAM_VIRTUALLY_FRAME" val="{&quot;height&quot;:260,&quot;left&quot;:60,&quot;top&quot;:170,&quot;width&quot;:810}"/>
</p:tagLst>
</file>

<file path=ppt/tags/tag32.xml><?xml version="1.0" encoding="utf-8"?>
<p:tagLst xmlns:p="http://schemas.openxmlformats.org/presentationml/2006/main">
  <p:tag name="KSO_WM_DIAGRAM_VIRTUALLY_FRAME" val="{&quot;height&quot;:260,&quot;left&quot;:60,&quot;top&quot;:170,&quot;width&quot;:810}"/>
</p:tagLst>
</file>

<file path=ppt/tags/tag33.xml><?xml version="1.0" encoding="utf-8"?>
<p:tagLst xmlns:p="http://schemas.openxmlformats.org/presentationml/2006/main">
  <p:tag name="KSO_WM_DIAGRAM_VIRTUALLY_FRAME" val="{&quot;height&quot;:230,&quot;left&quot;:460,&quot;top&quot;:170,&quot;width&quot;:410}"/>
</p:tagLst>
</file>

<file path=ppt/tags/tag34.xml><?xml version="1.0" encoding="utf-8"?>
<p:tagLst xmlns:p="http://schemas.openxmlformats.org/presentationml/2006/main">
  <p:tag name="KSO_WM_DIAGRAM_VIRTUALLY_FRAME" val="{&quot;height&quot;:230,&quot;left&quot;:460,&quot;top&quot;:170,&quot;width&quot;:410}"/>
</p:tagLst>
</file>

<file path=ppt/tags/tag35.xml><?xml version="1.0" encoding="utf-8"?>
<p:tagLst xmlns:p="http://schemas.openxmlformats.org/presentationml/2006/main">
  <p:tag name="KSO_WM_DIAGRAM_VIRTUALLY_FRAME" val="{&quot;height&quot;:230,&quot;left&quot;:460,&quot;top&quot;:170,&quot;width&quot;:410}"/>
</p:tagLst>
</file>

<file path=ppt/tags/tag36.xml><?xml version="1.0" encoding="utf-8"?>
<p:tagLst xmlns:p="http://schemas.openxmlformats.org/presentationml/2006/main">
  <p:tag name="KSO_WM_DIAGRAM_VIRTUALLY_FRAME" val="{&quot;height&quot;:230,&quot;left&quot;:460,&quot;top&quot;:170,&quot;width&quot;:410}"/>
</p:tagLst>
</file>

<file path=ppt/tags/tag37.xml><?xml version="1.0" encoding="utf-8"?>
<p:tagLst xmlns:p="http://schemas.openxmlformats.org/presentationml/2006/main">
  <p:tag name="KSO_WM_DIAGRAM_VIRTUALLY_FRAME" val="{&quot;height&quot;:230,&quot;left&quot;:460,&quot;top&quot;:170,&quot;width&quot;:410}"/>
</p:tagLst>
</file>

<file path=ppt/tags/tag38.xml><?xml version="1.0" encoding="utf-8"?>
<p:tagLst xmlns:p="http://schemas.openxmlformats.org/presentationml/2006/main">
  <p:tag name="KSO_WM_DIAGRAM_VIRTUALLY_FRAME" val="{&quot;height&quot;:230,&quot;left&quot;:460,&quot;top&quot;:170,&quot;width&quot;:410}"/>
</p:tagLst>
</file>

<file path=ppt/tags/tag39.xml><?xml version="1.0" encoding="utf-8"?>
<p:tagLst xmlns:p="http://schemas.openxmlformats.org/presentationml/2006/main">
  <p:tag name="KSO_WM_DIAGRAM_VIRTUALLY_FRAME" val="{&quot;height&quot;:260,&quot;left&quot;:60,&quot;top&quot;:170,&quot;width&quot;:810}"/>
</p:tagLst>
</file>

<file path=ppt/tags/tag40.xml><?xml version="1.0" encoding="utf-8"?>
<p:tagLst xmlns:p="http://schemas.openxmlformats.org/presentationml/2006/main">
  <p:tag name="KSO_WM_DIAGRAM_VIRTUALLY_FRAME" val="{&quot;height&quot;:260,&quot;left&quot;:60,&quot;top&quot;:170,&quot;width&quot;:810}"/>
</p:tagLst>
</file>

<file path=ppt/tags/tag41.xml><?xml version="1.0" encoding="utf-8"?>
<p:tagLst xmlns:p="http://schemas.openxmlformats.org/presentationml/2006/main">
  <p:tag name="KSO_WM_DIAGRAM_VIRTUALLY_FRAME" val="{&quot;height&quot;:260,&quot;left&quot;:60,&quot;top&quot;:170,&quot;width&quot;:810}"/>
</p:tagLst>
</file>

<file path=ppt/tags/tag42.xml><?xml version="1.0" encoding="utf-8"?>
<p:tagLst xmlns:p="http://schemas.openxmlformats.org/presentationml/2006/main">
  <p:tag name="KSO_WM_DIAGRAM_VIRTUALLY_FRAME" val="{&quot;height&quot;:230,&quot;left&quot;:460,&quot;top&quot;:170,&quot;width&quot;:410}"/>
</p:tagLst>
</file>

<file path=ppt/tags/tag43.xml><?xml version="1.0" encoding="utf-8"?>
<p:tagLst xmlns:p="http://schemas.openxmlformats.org/presentationml/2006/main">
  <p:tag name="KSO_WM_DIAGRAM_VIRTUALLY_FRAME" val="{&quot;height&quot;:230,&quot;left&quot;:460,&quot;top&quot;:170,&quot;width&quot;:410}"/>
</p:tagLst>
</file>

<file path=ppt/tags/tag44.xml><?xml version="1.0" encoding="utf-8"?>
<p:tagLst xmlns:p="http://schemas.openxmlformats.org/presentationml/2006/main">
  <p:tag name="KSO_WM_DIAGRAM_VIRTUALLY_FRAME" val="{&quot;height&quot;:230,&quot;left&quot;:460,&quot;top&quot;:170,&quot;width&quot;:410}"/>
</p:tagLst>
</file>

<file path=ppt/tags/tag45.xml><?xml version="1.0" encoding="utf-8"?>
<p:tagLst xmlns:p="http://schemas.openxmlformats.org/presentationml/2006/main">
  <p:tag name="KSO_WM_DIAGRAM_VIRTUALLY_FRAME" val="{&quot;height&quot;:260,&quot;left&quot;:60,&quot;top&quot;:170,&quot;width&quot;:810}"/>
</p:tagLst>
</file>

<file path=ppt/tags/tag46.xml><?xml version="1.0" encoding="utf-8"?>
<p:tagLst xmlns:p="http://schemas.openxmlformats.org/presentationml/2006/main">
  <p:tag name="KSO_WM_DIAGRAM_VIRTUALLY_FRAME" val="{&quot;height&quot;:260,&quot;left&quot;:60,&quot;top&quot;:170,&quot;width&quot;:810}"/>
</p:tagLst>
</file>

<file path=ppt/tags/tag47.xml><?xml version="1.0" encoding="utf-8"?>
<p:tagLst xmlns:p="http://schemas.openxmlformats.org/presentationml/2006/main">
  <p:tag name="KSO_WM_DIAGRAM_VIRTUALLY_FRAME" val="{&quot;height&quot;:260,&quot;left&quot;:60,&quot;top&quot;:170,&quot;width&quot;:810}"/>
</p:tagLst>
</file>

<file path=ppt/tags/tag48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49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50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51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52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53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54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55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56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57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58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59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60.xml><?xml version="1.0" encoding="utf-8"?>
<p:tagLst xmlns:p="http://schemas.openxmlformats.org/presentationml/2006/main">
  <p:tag name="KSO_WM_DIAGRAM_VIRTUALLY_FRAME" val="{&quot;height&quot;:350,&quot;left&quot;:60,&quot;top&quot;:140,&quot;width&quot;:400}"/>
</p:tagLst>
</file>

<file path=ppt/tags/tag61.xml><?xml version="1.0" encoding="utf-8"?>
<p:tagLst xmlns:p="http://schemas.openxmlformats.org/presentationml/2006/main">
  <p:tag name="KSO_WM_DIAGRAM_VIRTUALLY_FRAME" val="{&quot;height&quot;:350,&quot;left&quot;:60,&quot;top&quot;:140,&quot;width&quot;:400}"/>
</p:tagLst>
</file>

<file path=ppt/tags/tag62.xml><?xml version="1.0" encoding="utf-8"?>
<p:tagLst xmlns:p="http://schemas.openxmlformats.org/presentationml/2006/main">
  <p:tag name="KSO_WM_DIAGRAM_VIRTUALLY_FRAME" val="{&quot;height&quot;:350,&quot;left&quot;:60,&quot;top&quot;:140,&quot;width&quot;:400}"/>
</p:tagLst>
</file>

<file path=ppt/tags/tag63.xml><?xml version="1.0" encoding="utf-8"?>
<p:tagLst xmlns:p="http://schemas.openxmlformats.org/presentationml/2006/main">
  <p:tag name="KSO_WM_DIAGRAM_VIRTUALLY_FRAME" val="{&quot;height&quot;:350,&quot;left&quot;:60,&quot;top&quot;:140,&quot;width&quot;:400}"/>
</p:tagLst>
</file>

<file path=ppt/tags/tag64.xml><?xml version="1.0" encoding="utf-8"?>
<p:tagLst xmlns:p="http://schemas.openxmlformats.org/presentationml/2006/main">
  <p:tag name="KSO_WM_DIAGRAM_VIRTUALLY_FRAME" val="{&quot;height&quot;:350,&quot;left&quot;:60,&quot;top&quot;:140,&quot;width&quot;:400}"/>
</p:tagLst>
</file>

<file path=ppt/tags/tag65.xml><?xml version="1.0" encoding="utf-8"?>
<p:tagLst xmlns:p="http://schemas.openxmlformats.org/presentationml/2006/main">
  <p:tag name="KSO_WM_DIAGRAM_VIRTUALLY_FRAME" val="{&quot;height&quot;:350,&quot;left&quot;:60,&quot;top&quot;:140,&quot;width&quot;:400}"/>
</p:tagLst>
</file>

<file path=ppt/tags/tag66.xml><?xml version="1.0" encoding="utf-8"?>
<p:tagLst xmlns:p="http://schemas.openxmlformats.org/presentationml/2006/main">
  <p:tag name="KSO_WM_DIAGRAM_VIRTUALLY_FRAME" val="{&quot;height&quot;:350,&quot;left&quot;:60,&quot;top&quot;:140,&quot;width&quot;:400}"/>
</p:tagLst>
</file>

<file path=ppt/tags/tag67.xml><?xml version="1.0" encoding="utf-8"?>
<p:tagLst xmlns:p="http://schemas.openxmlformats.org/presentationml/2006/main">
  <p:tag name="KSO_WM_DIAGRAM_VIRTUALLY_FRAME" val="{&quot;height&quot;:350,&quot;left&quot;:60,&quot;top&quot;:140,&quot;width&quot;:400}"/>
</p:tagLst>
</file>

<file path=ppt/tags/tag68.xml><?xml version="1.0" encoding="utf-8"?>
<p:tagLst xmlns:p="http://schemas.openxmlformats.org/presentationml/2006/main">
  <p:tag name="KSO_WM_DIAGRAM_VIRTUALLY_FRAME" val="{&quot;height&quot;:350,&quot;left&quot;:60,&quot;top&quot;:140,&quot;width&quot;:400}"/>
</p:tagLst>
</file>

<file path=ppt/tags/tag69.xml><?xml version="1.0" encoding="utf-8"?>
<p:tagLst xmlns:p="http://schemas.openxmlformats.org/presentationml/2006/main">
  <p:tag name="KSO_WM_DIAGRAM_VIRTUALLY_FRAME" val="{&quot;height&quot;:350,&quot;left&quot;:60,&quot;top&quot;:140,&quot;width&quot;:400}"/>
</p:tagLst>
</file>

<file path=ppt/tags/tag70.xml><?xml version="1.0" encoding="utf-8"?>
<p:tagLst xmlns:p="http://schemas.openxmlformats.org/presentationml/2006/main">
  <p:tag name="KSO_WM_DIAGRAM_VIRTUALLY_FRAME" val="{&quot;height&quot;:350,&quot;left&quot;:60,&quot;top&quot;:140,&quot;width&quot;:400}"/>
</p:tagLst>
</file>

<file path=ppt/tags/tag71.xml><?xml version="1.0" encoding="utf-8"?>
<p:tagLst xmlns:p="http://schemas.openxmlformats.org/presentationml/2006/main">
  <p:tag name="KSO_WM_DIAGRAM_VIRTUALLY_FRAME" val="{&quot;height&quot;:350,&quot;left&quot;:60,&quot;top&quot;:140,&quot;width&quot;:400}"/>
</p:tagLst>
</file>

<file path=ppt/tags/tag72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73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74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75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76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77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78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79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80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81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82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83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84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85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86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87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88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89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90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91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92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93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94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95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96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97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98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99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100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101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102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103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104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105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106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107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108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109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110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111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112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113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114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115.xml><?xml version="1.0" encoding="utf-8"?>
<p:tagLst xmlns:p="http://schemas.openxmlformats.org/presentationml/2006/main">
  <p:tag name="KSO_WM_DIAGRAM_VIRTUALLY_FRAME" val="{&quot;height&quot;:280,&quot;left&quot;:60,&quot;top&quot;:160,&quot;width&quot;:840}"/>
</p:tagLst>
</file>

<file path=ppt/tags/tag116.xml><?xml version="1.0" encoding="utf-8"?>
<p:tagLst xmlns:p="http://schemas.openxmlformats.org/presentationml/2006/main">
  <p:tag name="KSO_WM_DIAGRAM_VIRTUALLY_FRAME" val="{&quot;height&quot;:220,&quot;left&quot;:60,&quot;top&quot;:160,&quot;width&quot;:840}"/>
</p:tagLst>
</file>

<file path=ppt/tags/tag117.xml><?xml version="1.0" encoding="utf-8"?>
<p:tagLst xmlns:p="http://schemas.openxmlformats.org/presentationml/2006/main">
  <p:tag name="KSO_WM_DIAGRAM_VIRTUALLY_FRAME" val="{&quot;height&quot;:220,&quot;left&quot;:60,&quot;top&quot;:160,&quot;width&quot;:840}"/>
</p:tagLst>
</file>

<file path=ppt/tags/tag118.xml><?xml version="1.0" encoding="utf-8"?>
<p:tagLst xmlns:p="http://schemas.openxmlformats.org/presentationml/2006/main">
  <p:tag name="KSO_WM_DIAGRAM_VIRTUALLY_FRAME" val="{&quot;height&quot;:220,&quot;left&quot;:60,&quot;top&quot;:160,&quot;width&quot;:840}"/>
</p:tagLst>
</file>

<file path=ppt/tags/tag119.xml><?xml version="1.0" encoding="utf-8"?>
<p:tagLst xmlns:p="http://schemas.openxmlformats.org/presentationml/2006/main">
  <p:tag name="KSO_WM_DIAGRAM_VIRTUALLY_FRAME" val="{&quot;height&quot;:220,&quot;left&quot;:60,&quot;top&quot;:160,&quot;width&quot;:840}"/>
</p:tagLst>
</file>

<file path=ppt/tags/tag120.xml><?xml version="1.0" encoding="utf-8"?>
<p:tagLst xmlns:p="http://schemas.openxmlformats.org/presentationml/2006/main">
  <p:tag name="KSO_WM_DIAGRAM_VIRTUALLY_FRAME" val="{&quot;height&quot;:220,&quot;left&quot;:60,&quot;top&quot;:160,&quot;width&quot;:840}"/>
</p:tagLst>
</file>

<file path=ppt/tags/tag121.xml><?xml version="1.0" encoding="utf-8"?>
<p:tagLst xmlns:p="http://schemas.openxmlformats.org/presentationml/2006/main">
  <p:tag name="KSO_WM_DIAGRAM_VIRTUALLY_FRAME" val="{&quot;height&quot;:220,&quot;left&quot;:60,&quot;top&quot;:160,&quot;width&quot;:840}"/>
</p:tagLst>
</file>

<file path=ppt/tags/tag122.xml><?xml version="1.0" encoding="utf-8"?>
<p:tagLst xmlns:p="http://schemas.openxmlformats.org/presentationml/2006/main">
  <p:tag name="KSO_WM_DIAGRAM_VIRTUALLY_FRAME" val="{&quot;height&quot;:220,&quot;left&quot;:60,&quot;top&quot;:160,&quot;width&quot;:840}"/>
</p:tagLst>
</file>

<file path=ppt/tags/tag123.xml><?xml version="1.0" encoding="utf-8"?>
<p:tagLst xmlns:p="http://schemas.openxmlformats.org/presentationml/2006/main">
  <p:tag name="KSO_WM_DIAGRAM_VIRTUALLY_FRAME" val="{&quot;height&quot;:220,&quot;left&quot;:60,&quot;top&quot;:160,&quot;width&quot;:840}"/>
</p:tagLst>
</file>

<file path=ppt/tags/tag124.xml><?xml version="1.0" encoding="utf-8"?>
<p:tagLst xmlns:p="http://schemas.openxmlformats.org/presentationml/2006/main">
  <p:tag name="KSO_WM_DIAGRAM_VIRTUALLY_FRAME" val="{&quot;height&quot;:220,&quot;left&quot;:60,&quot;top&quot;:160,&quot;width&quot;:840}"/>
</p:tagLst>
</file>

<file path=ppt/tags/tag125.xml><?xml version="1.0" encoding="utf-8"?>
<p:tagLst xmlns:p="http://schemas.openxmlformats.org/presentationml/2006/main">
  <p:tag name="KSO_WM_DIAGRAM_VIRTUALLY_FRAME" val="{&quot;height&quot;:220,&quot;left&quot;:60,&quot;top&quot;:160,&quot;width&quot;:840}"/>
</p:tagLst>
</file>

<file path=ppt/tags/tag126.xml><?xml version="1.0" encoding="utf-8"?>
<p:tagLst xmlns:p="http://schemas.openxmlformats.org/presentationml/2006/main">
  <p:tag name="KSO_WM_DIAGRAM_VIRTUALLY_FRAME" val="{&quot;height&quot;:220,&quot;left&quot;:60,&quot;top&quot;:160,&quot;width&quot;:840}"/>
</p:tagLst>
</file>

<file path=ppt/tags/tag127.xml><?xml version="1.0" encoding="utf-8"?>
<p:tagLst xmlns:p="http://schemas.openxmlformats.org/presentationml/2006/main">
  <p:tag name="KSO_WM_DIAGRAM_VIRTUALLY_FRAME" val="{&quot;height&quot;:220,&quot;left&quot;:60,&quot;top&quot;:160,&quot;width&quot;:840}"/>
</p:tagLst>
</file>

<file path=ppt/tags/tag128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129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130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131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132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133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134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135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136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137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138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139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140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141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142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143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144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145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146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147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148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149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150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ags/tag151.xml><?xml version="1.0" encoding="utf-8"?>
<p:tagLst xmlns:p="http://schemas.openxmlformats.org/presentationml/2006/main">
  <p:tag name="KSO_WM_DIAGRAM_VIRTUALLY_FRAME" val="{&quot;height&quot;:180,&quot;left&quot;:60,&quot;top&quot;:16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2844</Words>
  <Application>WPS 演示</Application>
  <PresentationFormat/>
  <Paragraphs>307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Zishun Wu</cp:lastModifiedBy>
  <cp:revision>2</cp:revision>
  <dcterms:created xsi:type="dcterms:W3CDTF">2026-03-21T15:15:00Z</dcterms:created>
  <dcterms:modified xsi:type="dcterms:W3CDTF">2026-03-22T15:23:26Z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F72D61E000EA4AC4ADF2C50E1564707B_12</vt:lpwstr>
  </property>
  <property fmtid="{D5CDD505-2E9C-101B-9397-08002B2CF9AE}" pid="3" name="KSOProductBuildVer">
    <vt:lpwstr>2052-12.1.0.19302</vt:lpwstr>
  </property>
</Properties>
</file>